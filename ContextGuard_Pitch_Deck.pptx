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DA9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A9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A9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A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5A5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table</c:v>
                  </c:pt>
                  <c:pt idx="1">
                    <c:v>2 tables</c:v>
                  </c:pt>
                  <c:pt idx="2">
                    <c:v>3 tables</c:v>
                  </c:pt>
                  <c:pt idx="3">
                    <c:v>4+ tables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80</c:v>
                </c:pt>
                <c:pt idx="2">
                  <c:v>55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6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739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0E1726"/>
        </a:solidFill>
        <a:ln>
          <a:noFill/>
        </a:ln>
        <a:effectLst/>
      </c:spPr>
    </c:plotArea>
    <c:plotVisOnly val="1"/>
    <c:dispBlanksAs val="span"/>
  </c:chart>
  <c:spPr>
    <a:solidFill>
      <a:srgbClr val="0E17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3DA9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4572000" cy="4572000"/>
          </a:xfrm>
          <a:prstGeom prst="ellipse">
            <a:avLst/>
          </a:prstGeom>
          <a:solidFill>
            <a:srgbClr val="2ECC7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1371600" cy="1371600"/>
          </a:xfrm>
          <a:prstGeom prst="ellipse">
            <a:avLst/>
          </a:prstGeom>
          <a:solidFill>
            <a:srgbClr val="1B2A47"/>
          </a:solidFill>
          <a:ln w="19050">
            <a:solidFill>
              <a:srgbClr val="3DA9F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828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5544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ContextGuard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2487168" y="2697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answers over governed enterprise data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487168" y="3520440"/>
            <a:ext cx="6583680" cy="640080"/>
          </a:xfrm>
          <a:prstGeom prst="roundRect">
            <a:avLst>
              <a:gd name="adj" fmla="val 17143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97480" y="3520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semantic map, </a:t>
            </a:r>
            <a:pPr algn="l" indent="0" marL="0">
              <a:buNone/>
            </a:pPr>
            <a:r>
              <a:rPr lang="en-US" sz="1800" b="1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5943600"/>
            <a:ext cx="10515600" cy="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1  ·  Track #10 Security &amp; Guardrails  ·  Solo build  ·  Demoed on J&amp;J / Janssen pharma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ask questions in natural language over many BigQuery tables. Accuracy, hallucination-prevention and data privacy are all non-negotiable.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218688"/>
            <a:ext cx="457200" cy="457200"/>
          </a:xfrm>
          <a:prstGeom prst="ellipse">
            <a:avLst/>
          </a:prstGeom>
          <a:solidFill>
            <a:srgbClr val="EAF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30098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090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breaks at scale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33924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accurate with 1-2 tables, but it HALLUCINATES as tables are added — wrong joins, dropped filters.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078224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325112"/>
            <a:ext cx="457200" cy="457200"/>
          </a:xfrm>
          <a:prstGeom prst="ellipse">
            <a:avLst/>
          </a:prstGeom>
          <a:solidFill>
            <a:srgbClr val="FFF6E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4074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197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sensitive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08760" y="44988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hold PHI, PII and confidential business information across the pharma estate.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5184648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5431536"/>
            <a:ext cx="457200" cy="457200"/>
          </a:xfrm>
          <a:prstGeom prst="ellipse">
            <a:avLst/>
          </a:prstGeom>
          <a:solidFill>
            <a:srgbClr val="FFEC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51383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303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bottleneck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08760" y="56052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answer over governed data is worse than no answer — a human must be able to trust it.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66560" y="1691640"/>
            <a:ext cx="4754880" cy="4572000"/>
          </a:xfrm>
          <a:prstGeom prst="roundRect">
            <a:avLst>
              <a:gd name="adj" fmla="val 2000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04088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decays as tables are joined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04088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text-to-SQL, illustrative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903720" y="269748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semantic map, </a:t>
            </a:r>
            <a:pPr indent="0" marL="0">
              <a:buNone/>
            </a:pPr>
            <a:r>
              <a:rPr lang="en-US" sz="3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jobs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governance artifact does double duty — it makes answers accurate and then guards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58368" cy="658368"/>
          </a:xfrm>
          <a:prstGeom prst="ellipse">
            <a:avLst/>
          </a:prstGeom>
          <a:solidFill>
            <a:srgbClr val="13203A"/>
          </a:solidFill>
          <a:ln w="19050">
            <a:solidFill>
              <a:srgbClr val="3DA9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57984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37360" y="1993392"/>
            <a:ext cx="960120" cy="347472"/>
          </a:xfrm>
          <a:prstGeom prst="roundRect">
            <a:avLst>
              <a:gd name="adj" fmla="val 47368"/>
            </a:avLst>
          </a:prstGeom>
          <a:solidFill>
            <a:srgbClr val="3DA9FC"/>
          </a:solidFill>
          <a:ln/>
        </p:spPr>
      </p:sp>
      <p:sp>
        <p:nvSpPr>
          <p:cNvPr id="8" name="Text 5"/>
          <p:cNvSpPr/>
          <p:nvPr/>
        </p:nvSpPr>
        <p:spPr>
          <a:xfrm>
            <a:off x="1737360" y="19933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8892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737360" y="2468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 retrieval narrows the tables, columns and joins shown to the model per question — so it can’t invent a wrong join.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011680"/>
            <a:ext cx="658368" cy="658368"/>
          </a:xfrm>
          <a:prstGeom prst="ellipse">
            <a:avLst/>
          </a:prstGeom>
          <a:solidFill>
            <a:srgbClr val="13203A"/>
          </a:solidFill>
          <a:ln w="19050">
            <a:solidFill>
              <a:srgbClr val="2ECC7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157984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15200" y="1993392"/>
            <a:ext cx="960120" cy="347472"/>
          </a:xfrm>
          <a:prstGeom prst="roundRect">
            <a:avLst>
              <a:gd name="adj" fmla="val 47368"/>
            </a:avLst>
          </a:prstGeom>
          <a:solidFill>
            <a:srgbClr val="2ECC71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0" y="19933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36676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7315200" y="2468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ContextGuard validates the generated answer against the same map before a human ever sees it.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41605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31520" y="4160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2569464" y="4617720"/>
            <a:ext cx="219456" cy="0"/>
          </a:xfrm>
          <a:prstGeom prst="line">
            <a:avLst/>
          </a:prstGeom>
          <a:noFill/>
          <a:ln w="31750">
            <a:solidFill>
              <a:srgbClr val="3DA9FC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843784" y="41605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4306824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935224" y="4617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(narrow)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773168" y="4617720"/>
            <a:ext cx="219456" cy="0"/>
          </a:xfrm>
          <a:prstGeom prst="line">
            <a:avLst/>
          </a:prstGeom>
          <a:noFill/>
          <a:ln w="31750">
            <a:solidFill>
              <a:srgbClr val="3DA9FC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047488" y="41605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138928" y="4160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SQL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976872" y="4617720"/>
            <a:ext cx="219456" cy="0"/>
          </a:xfrm>
          <a:prstGeom prst="line">
            <a:avLst/>
          </a:prstGeom>
          <a:noFill/>
          <a:ln w="31750">
            <a:solidFill>
              <a:srgbClr val="3DA9FC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251192" y="41605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6314A"/>
          </a:solidFill>
          <a:ln w="19050">
            <a:solidFill>
              <a:srgbClr val="3DA9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860" y="4306824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42632" y="4617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ContextGuard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gates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9171432" y="4617720"/>
            <a:ext cx="292608" cy="-4572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9171432" y="4617720"/>
            <a:ext cx="292608" cy="45720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9500616" y="4142232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F2C1C"/>
          </a:solidFill>
          <a:ln w="19050">
            <a:solidFill>
              <a:srgbClr val="2ECC71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4279392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994392" y="41422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answer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500616" y="4837176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2A1114"/>
          </a:solidFill>
          <a:ln w="19050">
            <a:solidFill>
              <a:srgbClr val="FF5A5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4974336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94392" y="483717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step and the guard step read the same semantic map — narrow first, then certify.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proof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buNone/>
            </a:pPr>
            <a:r>
              <a:rPr lang="en-US" sz="1600" i="1" dirty="0">
                <a:solidFill>
                  <a:srgbClr val="33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“Total settled safety cost for serious adverse events on immunology products”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52560" y="10972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EAF4FF"/>
          </a:solidFill>
          <a:ln w="12700">
            <a:solidFill>
              <a:srgbClr val="BBD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3-table join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 →  adverse_events  →  safety_costs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2A1114"/>
          </a:solidFill>
          <a:ln w="25400">
            <a:solidFill>
              <a:srgbClr val="FF5A5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441448"/>
            <a:ext cx="566928" cy="566928"/>
          </a:xfrm>
          <a:prstGeom prst="ellipse">
            <a:avLst/>
          </a:prstGeom>
          <a:solidFill>
            <a:srgbClr val="3A151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6032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/ naive answer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45920" y="2752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2918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₹240,806,409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868680" y="4297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 cross-join and dropped the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‘serious’</a:t>
            </a:r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‘settled’</a:t>
            </a:r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08860" y="4937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5A1A1E"/>
          </a:solidFill>
          <a:ln/>
        </p:spPr>
      </p:sp>
      <p:sp>
        <p:nvSpPr>
          <p:cNvPr id="15" name="Text 12"/>
          <p:cNvSpPr/>
          <p:nvPr/>
        </p:nvSpPr>
        <p:spPr>
          <a:xfrm>
            <a:off x="230886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~15x overstated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21488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0F2C1C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2441448"/>
            <a:ext cx="566928" cy="566928"/>
          </a:xfrm>
          <a:prstGeom prst="ellipse">
            <a:avLst/>
          </a:prstGeom>
          <a:solidFill>
            <a:srgbClr val="12492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56032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answer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269480" y="2752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E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92240" y="32918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₹16,165,949</a:t>
            </a:r>
            <a:endParaRPr lang="en-US" sz="4600" dirty="0"/>
          </a:p>
        </p:txBody>
      </p:sp>
      <p:sp>
        <p:nvSpPr>
          <p:cNvPr id="22" name="Text 18"/>
          <p:cNvSpPr/>
          <p:nvPr/>
        </p:nvSpPr>
        <p:spPr>
          <a:xfrm>
            <a:off x="6492240" y="4297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8E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3-table join, both filters applied, validated against the certified semantic map.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32420" y="4937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2492C"/>
          </a:solidFill>
          <a:ln/>
        </p:spPr>
      </p:sp>
      <p:sp>
        <p:nvSpPr>
          <p:cNvPr id="24" name="Text 20"/>
          <p:cNvSpPr/>
          <p:nvPr/>
        </p:nvSpPr>
        <p:spPr>
          <a:xfrm>
            <a:off x="793242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all 6 gates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824728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63040" y="5623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Misstatement avoided on this one question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315200" y="5623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₹224,640,459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governance gates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validated against the semantic map before a human trusts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475488" cy="475488"/>
          </a:xfrm>
          <a:prstGeom prst="ellipse">
            <a:avLst/>
          </a:prstGeom>
          <a:solidFill>
            <a:srgbClr val="0F2C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691640"/>
            <a:ext cx="2496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source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43400" y="169164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44568" y="1874520"/>
            <a:ext cx="475488" cy="475488"/>
          </a:xfrm>
          <a:prstGeom prst="ellipse">
            <a:avLst/>
          </a:prstGeom>
          <a:solidFill>
            <a:srgbClr val="0F2C1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9659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4648" y="1691640"/>
            <a:ext cx="2496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vs SLA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46720" y="1691640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47888" y="1874520"/>
            <a:ext cx="475488" cy="475488"/>
          </a:xfrm>
          <a:prstGeom prst="ellipse">
            <a:avLst/>
          </a:prstGeom>
          <a:solidFill>
            <a:srgbClr val="0F2C1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87968" y="1691640"/>
            <a:ext cx="2496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/ PII access by role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2779776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1248" y="2962656"/>
            <a:ext cx="475488" cy="475488"/>
          </a:xfrm>
          <a:prstGeom prst="ellipse">
            <a:avLst/>
          </a:prstGeom>
          <a:solidFill>
            <a:srgbClr val="0F2C1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0540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2779776"/>
            <a:ext cx="2496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43400" y="2779776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44568" y="2962656"/>
            <a:ext cx="475488" cy="475488"/>
          </a:xfrm>
          <a:prstGeom prst="ellipse">
            <a:avLst/>
          </a:prstGeom>
          <a:solidFill>
            <a:srgbClr val="0F2C1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05409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84648" y="2779776"/>
            <a:ext cx="2496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metric definition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046720" y="2779776"/>
            <a:ext cx="3456432" cy="841248"/>
          </a:xfrm>
          <a:prstGeom prst="roundRect">
            <a:avLst>
              <a:gd name="adj" fmla="val 9783"/>
            </a:avLst>
          </a:prstGeom>
          <a:solidFill>
            <a:srgbClr val="1B2A47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247888" y="2962656"/>
            <a:ext cx="475488" cy="475488"/>
          </a:xfrm>
          <a:prstGeom prst="ellipse">
            <a:avLst/>
          </a:prstGeom>
          <a:solidFill>
            <a:srgbClr val="0F2C1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05409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87968" y="2779776"/>
            <a:ext cx="2496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64008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FRESHNESS, PROVEN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40080" y="429768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868680" y="44622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 query (patient age / sex / reaction)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68680" y="489204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A1114"/>
          </a:solidFill>
          <a:ln w="15240">
            <a:solidFill>
              <a:srgbClr val="FF5A5F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5074920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17320" y="48920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3337560" y="48920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0F2C1C"/>
          </a:solidFill>
          <a:ln w="15240">
            <a:solidFill>
              <a:srgbClr val="2ECC71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5074920"/>
            <a:ext cx="310896" cy="31089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886200" y="48920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safety_officer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6263640" y="429768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38" name="Text 28"/>
          <p:cNvSpPr/>
          <p:nvPr/>
        </p:nvSpPr>
        <p:spPr>
          <a:xfrm>
            <a:off x="6492240" y="44622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Stale, uncertified table is blocked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6492240" y="4754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STELARA Q1 revenue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6492240" y="504748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2A1114"/>
          </a:solidFill>
          <a:ln w="15240">
            <a:solidFill>
              <a:srgbClr val="FF5A5F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629400" y="5047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 </a:t>
            </a:r>
            <a:pPr indent="0" marL="0">
              <a:buNone/>
            </a:pPr>
            <a:r>
              <a:rPr lang="en-US" sz="1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₹6,217,982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8961120" y="504748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F2C1C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9098280" y="5047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 </a:t>
            </a:r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₹10,363,303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640080" y="598932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631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868680" y="5989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demo: </a:t>
            </a:r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₹228,785,781</a:t>
            </a:r>
            <a:pPr indent="0" marL="0">
              <a:buNone/>
            </a:pPr>
            <a:r>
              <a:rPr lang="en-US" sz="15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misstatement avoided  —  every decision logged to an audit dashboard.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the ask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45336"/>
            <a:ext cx="475488" cy="475488"/>
          </a:xfrm>
          <a:prstGeom prst="ellipse">
            <a:avLst/>
          </a:prstGeom>
          <a:solidFill>
            <a:srgbClr val="EAF4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5389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target: Google BigQuery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78308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36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Demoed on a DuckDB stand-in running the identical SQL.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386584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606040"/>
            <a:ext cx="475488" cy="475488"/>
          </a:xfrm>
          <a:prstGeom prst="ellipse">
            <a:avLst/>
          </a:prstGeom>
          <a:solidFill>
            <a:srgbClr val="EAF4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7066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51460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LLM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08760" y="2843784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36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Featherless-hosted open model; runs offline with a deterministic engine at $0.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447288"/>
            <a:ext cx="6675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666744"/>
            <a:ext cx="475488" cy="475488"/>
          </a:xfrm>
          <a:prstGeom prst="ellipse">
            <a:avLst/>
          </a:prstGeom>
          <a:solidFill>
            <a:srgbClr val="EAF4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7673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575304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Janssen brands &amp; openFDA FAERS terms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08760" y="3904488"/>
            <a:ext cx="5623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36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Remicade, Stelara, Simponi, Tremfya, Xarelto, Darzalex, Imbruvica, Erleada. AE terms from openFDA FAERS (updated 2026-04-28). All patient &amp; financial facts synthetic.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828032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5047488"/>
            <a:ext cx="475488" cy="475488"/>
          </a:xfrm>
          <a:prstGeom prst="ellipse">
            <a:avLst/>
          </a:prstGeom>
          <a:solidFill>
            <a:srgbClr val="EAF4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14807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956048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on production governance patterns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08760" y="5285232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36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patterns used in production data engineering — Snowflake, dbt, Airflow.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589520" y="1325880"/>
            <a:ext cx="3931920" cy="4937760"/>
          </a:xfrm>
          <a:prstGeom prst="roundRect">
            <a:avLst>
              <a:gd name="adj" fmla="val 2791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052560" y="1783080"/>
            <a:ext cx="1005840" cy="1005840"/>
          </a:xfrm>
          <a:prstGeom prst="ellipse">
            <a:avLst/>
          </a:prstGeom>
          <a:solidFill>
            <a:srgbClr val="1B2A47"/>
          </a:solidFill>
          <a:ln w="19050">
            <a:solidFill>
              <a:srgbClr val="FFC857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1993392"/>
            <a:ext cx="585216" cy="5852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8952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955280" y="3429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for one analytics team to pilot it.</a:t>
            </a:r>
            <a:endParaRPr lang="en-US" sz="2700" dirty="0"/>
          </a:p>
        </p:txBody>
      </p:sp>
      <p:sp>
        <p:nvSpPr>
          <p:cNvPr id="28" name="Shape 21"/>
          <p:cNvSpPr/>
          <p:nvPr/>
        </p:nvSpPr>
        <p:spPr>
          <a:xfrm>
            <a:off x="8138160" y="5029200"/>
            <a:ext cx="2834640" cy="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95528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semantic map, two jobs — accurate answers, governed before anyone trusts them.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ContextGuard Pitch Deck</dc:title>
  <dc:subject>PptxGenJS Presentation</dc:subject>
  <dc:creator>ContextGuard</dc:creator>
  <cp:lastModifiedBy>ContextGuard</cp:lastModifiedBy>
  <cp:revision>1</cp:revision>
  <dcterms:created xsi:type="dcterms:W3CDTF">2026-06-18T19:38:46Z</dcterms:created>
  <dcterms:modified xsi:type="dcterms:W3CDTF">2026-06-18T19:38:46Z</dcterms:modified>
</cp:coreProperties>
</file>