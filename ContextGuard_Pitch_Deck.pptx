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C55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C55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 table</c:v>
                  </c:pt>
                  <c:pt idx="1">
                    <c:v>2 tables</c:v>
                  </c:pt>
                  <c:pt idx="2">
                    <c:v>3 tables</c:v>
                  </c:pt>
                  <c:pt idx="3">
                    <c:v>4+ tables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80</c:v>
                </c:pt>
                <c:pt idx="2">
                  <c:v>55</c:v>
                </c:pt>
                <c:pt idx="3">
                  <c:v>34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44E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2C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24344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44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7F9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11C2E"/>
        </a:solidFill>
        <a:ln>
          <a:noFill/>
        </a:ln>
        <a:effectLst/>
      </c:spPr>
    </c:plotArea>
    <c:plotVisOnly val="1"/>
    <c:dispBlanksAs val="span"/>
  </c:chart>
  <c:spPr>
    <a:solidFill>
      <a:srgbClr val="111C2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-731520"/>
            <a:ext cx="3291840" cy="3291840"/>
          </a:xfrm>
          <a:prstGeom prst="ellipse">
            <a:avLst/>
          </a:prstGeom>
          <a:solidFill>
            <a:srgbClr val="0B1220"/>
          </a:solidFill>
          <a:ln w="15875">
            <a:solidFill>
              <a:srgbClr val="22D3EE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77724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77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7772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ContextGuard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ContextGuard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841248" y="3429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AI answers over governed enterprise data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841248" y="4343400"/>
            <a:ext cx="3246120" cy="457200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43434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SEMANTIC MAP, TWO JOBS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Data-governance guardrail for natural-language querying  ·  demoed on synthetic pharmaceutical data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collapses as the questions get real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users ask questions in natural language across many tables. Today’s text-to-SQL is ~80% accurate on 1–2 tables, but hallucinates as tables are added — wrong joins, dropped filters.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3429000"/>
            <a:ext cx="5852160" cy="841248"/>
          </a:xfrm>
          <a:prstGeom prst="roundRect">
            <a:avLst>
              <a:gd name="adj" fmla="val 8696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05840" y="3666744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8" name="Shape 6"/>
          <p:cNvSpPr/>
          <p:nvPr/>
        </p:nvSpPr>
        <p:spPr>
          <a:xfrm>
            <a:off x="1088136" y="3749040"/>
            <a:ext cx="201168" cy="20116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35387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554480" y="38496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joins and filters, every time — not just on toy queries.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4398264"/>
            <a:ext cx="5852160" cy="841248"/>
          </a:xfrm>
          <a:prstGeom prst="roundRect">
            <a:avLst>
              <a:gd name="adj" fmla="val 8696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05840" y="4636008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88136" y="4718304"/>
            <a:ext cx="201168" cy="20116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50799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Hallucination-prevention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554480" y="4818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joins, no silently dropped WHERE clauses.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5367528"/>
            <a:ext cx="5852160" cy="841248"/>
          </a:xfrm>
          <a:prstGeom prst="roundRect">
            <a:avLst>
              <a:gd name="adj" fmla="val 8696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5605272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8" name="Shape 16"/>
          <p:cNvSpPr/>
          <p:nvPr/>
        </p:nvSpPr>
        <p:spPr>
          <a:xfrm>
            <a:off x="1088136" y="5687568"/>
            <a:ext cx="201168" cy="20116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/>
          <p:nvPr/>
        </p:nvSpPr>
        <p:spPr>
          <a:xfrm>
            <a:off x="1554480" y="547725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554480" y="57881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contains PHI, PII and confidential business information.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086600" y="1783080"/>
            <a:ext cx="4279392" cy="4617720"/>
          </a:xfrm>
          <a:prstGeom prst="roundRect">
            <a:avLst>
              <a:gd name="adj" fmla="val 1709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60920" y="2011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Text-to-SQL accuracy vs. tables joined</a:t>
            </a:r>
            <a:endParaRPr lang="en-US" sz="13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7269480" y="2423160"/>
          <a:ext cx="39319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semantic map, two jobs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semantic map of tables, columns, joins, metrics and access rules powers both accuracy and governance.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5074920" cy="1874520"/>
          </a:xfrm>
          <a:prstGeom prst="roundRect">
            <a:avLst>
              <a:gd name="adj" fmla="val 4878"/>
            </a:avLst>
          </a:prstGeom>
          <a:solidFill>
            <a:srgbClr val="111C2E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97280" y="2587752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8775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1 · ACCURACY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97280" y="3081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Schema-aware retrieval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97280" y="3474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Narrows the tables, columns and joins shown to the model per question — so it can’t invent a wrong join.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91072" y="2331720"/>
            <a:ext cx="5074920" cy="1874520"/>
          </a:xfrm>
          <a:prstGeom prst="roundRect">
            <a:avLst>
              <a:gd name="adj" fmla="val 4878"/>
            </a:avLst>
          </a:prstGeom>
          <a:solidFill>
            <a:srgbClr val="111C2E"/>
          </a:solidFill>
          <a:ln w="12700">
            <a:solidFill>
              <a:srgbClr val="14532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65392" y="2587752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4532D"/>
          </a:solidFill>
          <a:ln/>
        </p:spPr>
      </p:sp>
      <p:sp>
        <p:nvSpPr>
          <p:cNvPr id="13" name="Text 11"/>
          <p:cNvSpPr/>
          <p:nvPr/>
        </p:nvSpPr>
        <p:spPr>
          <a:xfrm>
            <a:off x="6565392" y="25877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2 · GOVERNANCE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65392" y="3081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ContextGuard validation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65392" y="3474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the generated answer against the same map before anyone sees it — pass or block.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4892040"/>
            <a:ext cx="1755648" cy="1051560"/>
          </a:xfrm>
          <a:prstGeom prst="roundRect">
            <a:avLst>
              <a:gd name="adj" fmla="val 7826"/>
            </a:avLst>
          </a:prstGeom>
          <a:solidFill>
            <a:srgbClr val="16233A"/>
          </a:solidFill>
          <a:ln w="12700">
            <a:solidFill>
              <a:srgbClr val="273A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9204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06040" y="5271516"/>
            <a:ext cx="310896" cy="292608"/>
          </a:xfrm>
          <a:prstGeom prst="rightArrow">
            <a:avLst/>
          </a:prstGeom>
          <a:solidFill>
            <a:srgbClr val="6C7F9C"/>
          </a:solidFill>
          <a:ln/>
        </p:spPr>
      </p:sp>
      <p:sp>
        <p:nvSpPr>
          <p:cNvPr id="19" name="Shape 17"/>
          <p:cNvSpPr/>
          <p:nvPr/>
        </p:nvSpPr>
        <p:spPr>
          <a:xfrm>
            <a:off x="2944368" y="4892040"/>
            <a:ext cx="1755648" cy="1051560"/>
          </a:xfrm>
          <a:prstGeom prst="roundRect">
            <a:avLst>
              <a:gd name="adj" fmla="val 7826"/>
            </a:avLst>
          </a:prstGeom>
          <a:solidFill>
            <a:srgbClr val="16233A"/>
          </a:solidFill>
          <a:ln w="12700">
            <a:solidFill>
              <a:srgbClr val="273A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44368" y="489204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Schema-aware retrieval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27448" y="5271516"/>
            <a:ext cx="310896" cy="292608"/>
          </a:xfrm>
          <a:prstGeom prst="rightArrow">
            <a:avLst/>
          </a:prstGeom>
          <a:solidFill>
            <a:srgbClr val="6C7F9C"/>
          </a:solidFill>
          <a:ln/>
        </p:spPr>
      </p:sp>
      <p:sp>
        <p:nvSpPr>
          <p:cNvPr id="22" name="Shape 20"/>
          <p:cNvSpPr/>
          <p:nvPr/>
        </p:nvSpPr>
        <p:spPr>
          <a:xfrm>
            <a:off x="5065776" y="4892040"/>
            <a:ext cx="1755648" cy="1051560"/>
          </a:xfrm>
          <a:prstGeom prst="roundRect">
            <a:avLst>
              <a:gd name="adj" fmla="val 7826"/>
            </a:avLst>
          </a:prstGeom>
          <a:solidFill>
            <a:srgbClr val="16233A"/>
          </a:solidFill>
          <a:ln w="12700">
            <a:solidFill>
              <a:srgbClr val="273A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65776" y="489204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SQL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48856" y="5271516"/>
            <a:ext cx="310896" cy="292608"/>
          </a:xfrm>
          <a:prstGeom prst="rightArrow">
            <a:avLst/>
          </a:prstGeom>
          <a:solidFill>
            <a:srgbClr val="6C7F9C"/>
          </a:solidFill>
          <a:ln/>
        </p:spPr>
      </p:sp>
      <p:sp>
        <p:nvSpPr>
          <p:cNvPr id="25" name="Shape 23"/>
          <p:cNvSpPr/>
          <p:nvPr/>
        </p:nvSpPr>
        <p:spPr>
          <a:xfrm>
            <a:off x="7187184" y="4892040"/>
            <a:ext cx="1755648" cy="1051560"/>
          </a:xfrm>
          <a:prstGeom prst="roundRect">
            <a:avLst>
              <a:gd name="adj" fmla="val 7826"/>
            </a:avLst>
          </a:prstGeom>
          <a:solidFill>
            <a:srgbClr val="16233A"/>
          </a:solidFill>
          <a:ln w="12700">
            <a:solidFill>
              <a:srgbClr val="273A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87184" y="489204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ContextGuard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gates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70264" y="5271516"/>
            <a:ext cx="310896" cy="292608"/>
          </a:xfrm>
          <a:prstGeom prst="rightArrow">
            <a:avLst/>
          </a:prstGeom>
          <a:solidFill>
            <a:srgbClr val="6C7F9C"/>
          </a:solidFill>
          <a:ln/>
        </p:spPr>
      </p:sp>
      <p:sp>
        <p:nvSpPr>
          <p:cNvPr id="28" name="Shape 26"/>
          <p:cNvSpPr/>
          <p:nvPr/>
        </p:nvSpPr>
        <p:spPr>
          <a:xfrm>
            <a:off x="9308592" y="4873752"/>
            <a:ext cx="1874520" cy="484632"/>
          </a:xfrm>
          <a:prstGeom prst="roundRect">
            <a:avLst>
              <a:gd name="adj" fmla="val 15094"/>
            </a:avLst>
          </a:prstGeom>
          <a:solidFill>
            <a:srgbClr val="14532D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08592" y="4873752"/>
            <a:ext cx="18745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answer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308592" y="5458968"/>
            <a:ext cx="1874520" cy="484632"/>
          </a:xfrm>
          <a:prstGeom prst="roundRect">
            <a:avLst>
              <a:gd name="adj" fmla="val 15094"/>
            </a:avLst>
          </a:prstGeom>
          <a:solidFill>
            <a:srgbClr val="5B141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5458968"/>
            <a:ext cx="18745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DEMO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question. One answer is off by ~15×.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10543032" cy="868680"/>
          </a:xfrm>
          <a:prstGeom prst="roundRect">
            <a:avLst>
              <a:gd name="adj" fmla="val 8421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17830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  </a:t>
            </a:r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“Total settled safety cost for serious adverse events on immunology products”</a:t>
            </a:r>
            <a:pPr indent="0" marL="0">
              <a:buNone/>
            </a:pPr>
            <a:r>
              <a:rPr lang="en-US" sz="1200" dirty="0">
                <a:solidFill>
                  <a:srgbClr val="6C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(needs a 3-table join)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5193792" cy="2788920"/>
          </a:xfrm>
          <a:prstGeom prst="roundRect">
            <a:avLst>
              <a:gd name="adj" fmla="val 3279"/>
            </a:avLst>
          </a:prstGeom>
          <a:solidFill>
            <a:srgbClr val="111C2E"/>
          </a:solidFill>
          <a:ln w="15875">
            <a:solidFill>
              <a:srgbClr val="EF444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3182112"/>
            <a:ext cx="2331720" cy="402336"/>
          </a:xfrm>
          <a:prstGeom prst="roundRect">
            <a:avLst>
              <a:gd name="adj" fmla="val 50000"/>
            </a:avLst>
          </a:prstGeom>
          <a:solidFill>
            <a:srgbClr val="5B1414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182112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UNGOVERNED  ·  BLOCKED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3749040"/>
            <a:ext cx="4645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₹240,806,409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097280" y="461772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a cross-join and dropped the serious / settled filters.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~15× hallucination.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2926080"/>
            <a:ext cx="5193792" cy="2788920"/>
          </a:xfrm>
          <a:prstGeom prst="roundRect">
            <a:avLst>
              <a:gd name="adj" fmla="val 3279"/>
            </a:avLst>
          </a:prstGeom>
          <a:solidFill>
            <a:srgbClr val="111C2E"/>
          </a:solidFill>
          <a:ln w="15875">
            <a:solidFill>
              <a:srgbClr val="22C55E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3182112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14532D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318211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 ·  CERTIFIED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46520" y="3749040"/>
            <a:ext cx="4645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₹16,165,949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446520" y="4617720"/>
            <a:ext cx="4645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3-table join with the serious and settled filters applied, validated against the certified semantic map.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22960" y="5989320"/>
            <a:ext cx="10543032" cy="566928"/>
          </a:xfrm>
          <a:prstGeom prst="roundRect">
            <a:avLst>
              <a:gd name="adj" fmla="val 12903"/>
            </a:avLst>
          </a:prstGeom>
          <a:solidFill>
            <a:srgbClr val="16233A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598932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Misstatement avoided on this one question: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₹224,640,459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0292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029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 ·  6 GATES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answer clears six gates before it ships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3246120" cy="658368"/>
          </a:xfrm>
          <a:prstGeom prst="roundRect">
            <a:avLst>
              <a:gd name="adj" fmla="val 11111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9264" y="1837944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7" name="Text 5"/>
          <p:cNvSpPr/>
          <p:nvPr/>
        </p:nvSpPr>
        <p:spPr>
          <a:xfrm>
            <a:off x="969264" y="1837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81328" y="169164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source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246120" cy="658368"/>
          </a:xfrm>
          <a:prstGeom prst="roundRect">
            <a:avLst>
              <a:gd name="adj" fmla="val 11111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3984" y="1837944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4443984" y="1837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56048" y="169164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freshness vs SLA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2551176"/>
            <a:ext cx="3246120" cy="658368"/>
          </a:xfrm>
          <a:prstGeom prst="roundRect">
            <a:avLst>
              <a:gd name="adj" fmla="val 11111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69264" y="2697480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5" name="Text 13"/>
          <p:cNvSpPr/>
          <p:nvPr/>
        </p:nvSpPr>
        <p:spPr>
          <a:xfrm>
            <a:off x="969264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81328" y="25511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/ PII access by role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297680" y="2551176"/>
            <a:ext cx="3246120" cy="658368"/>
          </a:xfrm>
          <a:prstGeom prst="roundRect">
            <a:avLst>
              <a:gd name="adj" fmla="val 11111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43984" y="2697480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4443984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56048" y="25511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safety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22960" y="3410712"/>
            <a:ext cx="3246120" cy="658368"/>
          </a:xfrm>
          <a:prstGeom prst="roundRect">
            <a:avLst>
              <a:gd name="adj" fmla="val 11111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9264" y="3557016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969264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81328" y="341071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metric definition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4297680" y="3410712"/>
            <a:ext cx="3246120" cy="658368"/>
          </a:xfrm>
          <a:prstGeom prst="roundRect">
            <a:avLst>
              <a:gd name="adj" fmla="val 11111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43984" y="3557016"/>
            <a:ext cx="365760" cy="36576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7" name="Text 25"/>
          <p:cNvSpPr/>
          <p:nvPr/>
        </p:nvSpPr>
        <p:spPr>
          <a:xfrm>
            <a:off x="4443984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956048" y="341071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772400" y="1691640"/>
            <a:ext cx="3593592" cy="2615184"/>
          </a:xfrm>
          <a:prstGeom prst="roundRect">
            <a:avLst>
              <a:gd name="adj" fmla="val 3497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028432" y="18745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PROOF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28432" y="2167128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query — patient age / sex / reaction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028432" y="2560320"/>
            <a:ext cx="3081528" cy="566928"/>
          </a:xfrm>
          <a:prstGeom prst="roundRect">
            <a:avLst>
              <a:gd name="adj" fmla="val 11290"/>
            </a:avLst>
          </a:prstGeom>
          <a:solidFill>
            <a:srgbClr val="5B141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0" y="25603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509760" y="2560320"/>
            <a:ext cx="1581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028432" y="3218688"/>
            <a:ext cx="3081528" cy="566928"/>
          </a:xfrm>
          <a:prstGeom prst="roundRect">
            <a:avLst>
              <a:gd name="adj" fmla="val 11290"/>
            </a:avLst>
          </a:prstGeom>
          <a:solidFill>
            <a:srgbClr val="14532D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0" y="321868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safety_officer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784080" y="3218688"/>
            <a:ext cx="1307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22960" y="4279392"/>
            <a:ext cx="6720840" cy="1051560"/>
          </a:xfrm>
          <a:prstGeom prst="roundRect">
            <a:avLst>
              <a:gd name="adj" fmla="val 8696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78992" y="442569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/ UNCERTIFIED TABLE  ·  BLOCKED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8992" y="4736592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Q1 revenue — </a:t>
            </a:r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₹6,217,982</a:t>
            </a:r>
            <a:pPr indent="0" marL="0">
              <a:buNone/>
            </a:pPr>
            <a:r>
              <a:rPr lang="en-US" sz="1300" dirty="0">
                <a:solidFill>
                  <a:srgbClr val="6C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 </a:t>
            </a:r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₹10,363,303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7772400" y="4279392"/>
            <a:ext cx="3593592" cy="1051560"/>
          </a:xfrm>
          <a:prstGeom prst="roundRect">
            <a:avLst>
              <a:gd name="adj" fmla="val 8696"/>
            </a:avLst>
          </a:prstGeom>
          <a:solidFill>
            <a:srgbClr val="16233A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28432" y="4398264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₹228,785,781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misstatement avoided across the demo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C7F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logged to an audit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production governance patterns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10543032" cy="896112"/>
          </a:xfrm>
          <a:prstGeom prst="roundRect">
            <a:avLst>
              <a:gd name="adj" fmla="val 8163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1783080"/>
            <a:ext cx="2651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target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3840480" y="1783080"/>
            <a:ext cx="7360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(primary), with BigQuery and other cloud warehouses supported — demoed on a DuckDB stand-in running the identical SQL.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807208"/>
            <a:ext cx="10543032" cy="896112"/>
          </a:xfrm>
          <a:prstGeom prst="roundRect">
            <a:avLst>
              <a:gd name="adj" fmla="val 8163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2807208"/>
            <a:ext cx="2651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Pluggable LLM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840480" y="2807208"/>
            <a:ext cx="7360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Featherless-hosted open model; runs offline with a deterministic engine at $0.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3831336"/>
            <a:ext cx="10543032" cy="896112"/>
          </a:xfrm>
          <a:prstGeom prst="roundRect">
            <a:avLst>
              <a:gd name="adj" fmla="val 8163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97280" y="3831336"/>
            <a:ext cx="2651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vs synthetic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840480" y="3831336"/>
            <a:ext cx="7360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names are real marketed drugs and adverse-event terms are real from the openFDA FAERS API; all patient and financial facts are synthetic.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855464"/>
            <a:ext cx="10543032" cy="896112"/>
          </a:xfrm>
          <a:prstGeom prst="roundRect">
            <a:avLst>
              <a:gd name="adj" fmla="val 8163"/>
            </a:avLst>
          </a:prstGeom>
          <a:solidFill>
            <a:srgbClr val="111C2E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97280" y="4855464"/>
            <a:ext cx="2651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solo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840480" y="4855464"/>
            <a:ext cx="7360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governance patterns from production data engineering — Snowflake, dbt, Airflow.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806440"/>
            <a:ext cx="10543032" cy="777240"/>
          </a:xfrm>
          <a:prstGeom prst="roundRect">
            <a:avLst>
              <a:gd name="adj" fmla="val 11765"/>
            </a:avLst>
          </a:prstGeom>
          <a:solidFill>
            <a:srgbClr val="0E7490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97280" y="58064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for one analytics team to pilot it.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ContextGuard Pitch Deck</dc:title>
  <dc:subject>PptxGenJS Presentation</dc:subject>
  <dc:creator>ContextGuard</dc:creator>
  <cp:lastModifiedBy>ContextGuard</cp:lastModifiedBy>
  <cp:revision>1</cp:revision>
  <dcterms:created xsi:type="dcterms:W3CDTF">2026-07-02T15:27:59Z</dcterms:created>
  <dcterms:modified xsi:type="dcterms:W3CDTF">2026-07-02T15:27:59Z</dcterms:modified>
</cp:coreProperties>
</file>